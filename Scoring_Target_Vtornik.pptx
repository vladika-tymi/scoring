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D9FFF"/>
                </a:solidFill>
                <a:latin typeface="Segoe UI"/>
              </a:rPr>
              <a:t>ВТОРНИК · ПОКАЗ ТАРГЕТА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EF4"/>
                </a:solidFill>
                <a:latin typeface="Segoe UI"/>
              </a:rPr>
              <a:t>Кто плохой клиент после выдачи кредита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B9AAB"/>
                </a:solidFill>
                <a:latin typeface="Segoe UI"/>
              </a:rPr>
              <a:t>Bad = DPD ≥ 30 дней за первые 6 месяцев  ·  snapshot 2025-05-31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4"/>
                </a:solidFill>
                <a:latin typeface="Segoe UI"/>
              </a:rPr>
              <a:t>1. Правило target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11064240" cy="1828800"/>
          </a:xfrm>
          <a:prstGeom prst="roundRect">
            <a:avLst>
              <a:gd name="adj" fmla="val 8000"/>
            </a:avLst>
          </a:prstGeom>
          <a:solidFill>
            <a:srgbClr val="15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EEF4"/>
                </a:solidFill>
                <a:latin typeface="Segoe UI"/>
              </a:rPr>
              <a:t>target = 1, если за 6 месяцев после выдачи
была просрочка платежа на 30+ дней.
Иначе target = 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200400"/>
            <a:ext cx="2651760" cy="1234440"/>
          </a:xfrm>
          <a:prstGeom prst="roundRect">
            <a:avLst>
              <a:gd name="adj" fmla="val 8000"/>
            </a:avLst>
          </a:prstGeom>
          <a:solidFill>
            <a:srgbClr val="15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337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AAB"/>
                </a:solidFill>
                <a:latin typeface="Segoe UI"/>
              </a:rPr>
              <a:t>Зрелых договоров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576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D9FFF"/>
                </a:solidFill>
                <a:latin typeface="Segoe UI"/>
              </a:rPr>
              <a:t>8 821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200400"/>
            <a:ext cx="2651760" cy="1234440"/>
          </a:xfrm>
          <a:prstGeom prst="roundRect">
            <a:avLst>
              <a:gd name="adj" fmla="val 8000"/>
            </a:avLst>
          </a:prstGeom>
          <a:solidFill>
            <a:srgbClr val="15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3337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AAB"/>
                </a:solidFill>
                <a:latin typeface="Segoe UI"/>
              </a:rPr>
              <a:t>Bad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36576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5D5D"/>
                </a:solidFill>
                <a:latin typeface="Segoe UI"/>
              </a:rPr>
              <a:t>23.95%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00400"/>
            <a:ext cx="2651760" cy="1234440"/>
          </a:xfrm>
          <a:prstGeom prst="roundRect">
            <a:avLst>
              <a:gd name="adj" fmla="val 8000"/>
            </a:avLst>
          </a:prstGeom>
          <a:solidFill>
            <a:srgbClr val="15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337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AAB"/>
                </a:solidFill>
                <a:latin typeface="Segoe UI"/>
              </a:rPr>
              <a:t>Отказы вне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6576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B84A"/>
                </a:solidFill>
                <a:latin typeface="Segoe UI"/>
              </a:rPr>
              <a:t>6 723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3200400"/>
            <a:ext cx="2651760" cy="1234440"/>
          </a:xfrm>
          <a:prstGeom prst="roundRect">
            <a:avLst>
              <a:gd name="adj" fmla="val 8000"/>
            </a:avLst>
          </a:prstGeom>
          <a:solidFill>
            <a:srgbClr val="15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3337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AAB"/>
                </a:solidFill>
                <a:latin typeface="Segoe UI"/>
              </a:rPr>
              <a:t>Незрелые выкинули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6576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B84A"/>
                </a:solidFill>
                <a:latin typeface="Segoe UI"/>
              </a:rPr>
              <a:t>2 456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4"/>
                </a:solidFill>
                <a:latin typeface="Segoe UI"/>
              </a:rPr>
              <a:t>2. Почему так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4846320"/>
          </a:xfrm>
          <a:prstGeom prst="roundRect">
            <a:avLst>
              <a:gd name="adj" fmla="val 8000"/>
            </a:avLst>
          </a:prstGeom>
          <a:solidFill>
            <a:srgbClr val="15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D9FFF"/>
                </a:solidFill>
                <a:latin typeface="Segoe UI"/>
              </a:rPr>
              <a:t>Почему 30 дней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EF4"/>
                </a:solidFill>
                <a:latin typeface="Segoe UI"/>
              </a:rPr>
              <a:t>• 2–5 дней опоздания бывает у всех
• 30+ дней = серьёзная просрочка
• Стандарт риска (DPD30)
Можно было 60/90 — рост просрочки
всё равно виден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05840"/>
            <a:ext cx="5394960" cy="4846320"/>
          </a:xfrm>
          <a:prstGeom prst="roundRect">
            <a:avLst>
              <a:gd name="adj" fmla="val 8000"/>
            </a:avLst>
          </a:prstGeom>
          <a:solidFill>
            <a:srgbClr val="15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D9FFF"/>
                </a:solidFill>
                <a:latin typeface="Segoe UI"/>
              </a:rPr>
              <a:t>Почему 6 месяцев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EF4"/>
                </a:solidFill>
                <a:latin typeface="Segoe UI"/>
              </a:rPr>
              <a:t>• Всем одинаковое окно
• Смотрим ранний риск
• Хватает зрелых когорт
  для проверки модели завтра
Если взять 12 месяцев —
слишком много договоров
ещё „не дозрели“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4"/>
                </a:solidFill>
                <a:latin typeface="Segoe UI"/>
              </a:rPr>
              <a:t>3. Отказы и незрелые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4846320"/>
          </a:xfrm>
          <a:prstGeom prst="roundRect">
            <a:avLst>
              <a:gd name="adj" fmla="val 8000"/>
            </a:avLst>
          </a:prstGeom>
          <a:solidFill>
            <a:srgbClr val="15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B84A"/>
                </a:solidFill>
                <a:latin typeface="Segoe UI"/>
              </a:rPr>
              <a:t>Отказы — НЕ в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EF4"/>
                </a:solidFill>
                <a:latin typeface="Segoe UI"/>
              </a:rPr>
              <a:t>6 723 заявки отклонены.
Договора нет → платежей нет →
не знаем, стал бы клиент плохим.
Их смотрим только чтобы понять,
кого резала старая политика.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05840"/>
            <a:ext cx="5394960" cy="4846320"/>
          </a:xfrm>
          <a:prstGeom prst="roundRect">
            <a:avLst>
              <a:gd name="adj" fmla="val 8000"/>
            </a:avLst>
          </a:prstGeom>
          <a:solidFill>
            <a:srgbClr val="15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B84A"/>
                </a:solidFill>
                <a:latin typeface="Segoe UI"/>
              </a:rPr>
              <a:t>Незрелые — ИСКЛЮЧИЛИ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EF4"/>
                </a:solidFill>
                <a:latin typeface="Segoe UI"/>
              </a:rPr>
              <a:t>2 456 договоров:
issue + 6 месяцев &gt; 31.05.2025
Окно ещё не закрылось =
исход неизвестен.
Иначе смешаем «ещё не успел»
с «хороший».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4"/>
                </a:solidFill>
                <a:latin typeface="Segoe UI"/>
              </a:rPr>
              <a:t>4. Bad rate по когортам выдачи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11064240" cy="5120640"/>
          </a:xfrm>
          <a:prstGeom prst="roundRect">
            <a:avLst>
              <a:gd name="adj" fmla="val 8000"/>
            </a:avLst>
          </a:prstGeom>
          <a:solidFill>
            <a:srgbClr val="15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5D5D"/>
                </a:solidFill>
                <a:latin typeface="Segoe UI"/>
              </a:rPr>
              <a:t>Было ~18–24%  →  рост со 2П 2024  →  пик октябрь 2024 = 36.3%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AAB"/>
                </a:solidFill>
                <a:latin typeface="Segoe UI"/>
              </a:rPr>
              <a:t>2023 H2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874520"/>
            <a:ext cx="4533900" cy="320040"/>
          </a:xfrm>
          <a:prstGeom prst="round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1380" y="1828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4"/>
                </a:solidFill>
                <a:latin typeface="Segoe UI"/>
              </a:rPr>
              <a:t>21%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AAB"/>
                </a:solidFill>
                <a:latin typeface="Segoe UI"/>
              </a:rPr>
              <a:t>2024 H1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2377440"/>
            <a:ext cx="4318000" cy="320040"/>
          </a:xfrm>
          <a:prstGeom prst="round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15480" y="2331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4"/>
                </a:solidFill>
                <a:latin typeface="Segoe UI"/>
              </a:rPr>
              <a:t>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AAB"/>
                </a:solidFill>
                <a:latin typeface="Segoe UI"/>
              </a:rPr>
              <a:t>2024-07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2880360"/>
            <a:ext cx="6045200" cy="320040"/>
          </a:xfrm>
          <a:prstGeom prst="round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42680" y="28346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4"/>
                </a:solidFill>
                <a:latin typeface="Segoe UI"/>
              </a:rPr>
              <a:t>28%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AAB"/>
                </a:solidFill>
                <a:latin typeface="Segoe UI"/>
              </a:rPr>
              <a:t>2024-08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3383280"/>
            <a:ext cx="6261100" cy="320040"/>
          </a:xfrm>
          <a:prstGeom prst="round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58580" y="3337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4"/>
                </a:solidFill>
                <a:latin typeface="Segoe UI"/>
              </a:rPr>
              <a:t>29%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40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AAB"/>
                </a:solidFill>
                <a:latin typeface="Segoe UI"/>
              </a:rPr>
              <a:t>2024-09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3886200"/>
            <a:ext cx="6045200" cy="320040"/>
          </a:xfrm>
          <a:prstGeom prst="round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2680" y="3840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4"/>
                </a:solidFill>
                <a:latin typeface="Segoe UI"/>
              </a:rPr>
              <a:t>28%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434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AAB"/>
                </a:solidFill>
                <a:latin typeface="Segoe UI"/>
              </a:rPr>
              <a:t>2024-10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0" y="4389120"/>
            <a:ext cx="7772400" cy="320040"/>
          </a:xfrm>
          <a:prstGeom prst="round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69880" y="4343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4"/>
                </a:solidFill>
                <a:latin typeface="Segoe UI"/>
              </a:rPr>
              <a:t>36%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46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AAB"/>
                </a:solidFill>
                <a:latin typeface="Segoe UI"/>
              </a:rPr>
              <a:t>2024-11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4892040"/>
            <a:ext cx="7124699" cy="320040"/>
          </a:xfrm>
          <a:prstGeom prst="round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2179" y="4846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4"/>
                </a:solidFill>
                <a:latin typeface="Segoe UI"/>
              </a:rPr>
              <a:t>33%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4"/>
                </a:solidFill>
                <a:latin typeface="Segoe UI"/>
              </a:rPr>
              <a:t>5. Что сказать (зачитай)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11064240" cy="5303520"/>
          </a:xfrm>
          <a:prstGeom prst="roundRect">
            <a:avLst>
              <a:gd name="adj" fmla="val 8000"/>
            </a:avLst>
          </a:prstGeom>
          <a:solidFill>
            <a:srgbClr val="15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14300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EF4"/>
                </a:solidFill>
                <a:latin typeface="Segoe UI"/>
              </a:rPr>
              <a:t>Bad — просрочка 30+ дней в первые 6 месяцев после выдачи.
Отказы не размечаем: нет договора. Незрелые исключаем: окно не закрылось.
На 8 821 договоре bad = 24%. По когортам рост: с ~20% до 36% в октябре 2024.
Вывод: просрочка действительно выросла. Завтра на этом таргете — модель.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8EEF4"/>
                </a:solidFill>
                <a:latin typeface="Segoe UI"/>
              </a:rPr>
              <a:t>Если спросят про Gini / CatBoost / AUC / PSI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AAB"/>
                </a:solidFill>
                <a:latin typeface="Segoe UI"/>
              </a:rPr>
              <a:t>Это про СРЕДУ (модель). Сегодня таргет. Но если спросит — скажи так: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03520" cy="2286000"/>
          </a:xfrm>
          <a:prstGeom prst="roundRect">
            <a:avLst>
              <a:gd name="adj" fmla="val 8000"/>
            </a:avLst>
          </a:prstGeom>
          <a:solidFill>
            <a:srgbClr val="15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D9FFF"/>
                </a:solidFill>
                <a:latin typeface="Segoe UI"/>
              </a:rPr>
              <a:t>AUC-ROC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4"/>
                </a:solidFill>
                <a:latin typeface="Segoe UI"/>
              </a:rPr>
              <a:t>Умеет ли модель отличать плохих от хороших.
0.5 = случайно, чем ближе к 1 — тем лучше.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88720"/>
            <a:ext cx="5303520" cy="2286000"/>
          </a:xfrm>
          <a:prstGeom prst="roundRect">
            <a:avLst>
              <a:gd name="adj" fmla="val 8000"/>
            </a:avLst>
          </a:prstGeom>
          <a:solidFill>
            <a:srgbClr val="15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3716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D9FFF"/>
                </a:solidFill>
                <a:latin typeface="Segoe UI"/>
              </a:rPr>
              <a:t>Gini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874519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4"/>
                </a:solidFill>
                <a:latin typeface="Segoe UI"/>
              </a:rPr>
              <a:t>Почти AUC для банков: Gini = 2×AUC − 1.
Выше Gini → лучше ранжирование.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5303520" cy="2286000"/>
          </a:xfrm>
          <a:prstGeom prst="roundRect">
            <a:avLst>
              <a:gd name="adj" fmla="val 8000"/>
            </a:avLst>
          </a:prstGeom>
          <a:solidFill>
            <a:srgbClr val="15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D9FFF"/>
                </a:solidFill>
                <a:latin typeface="Segoe UI"/>
              </a:rPr>
              <a:t>CatBoost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26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4"/>
                </a:solidFill>
                <a:latin typeface="Segoe UI"/>
              </a:rPr>
              <a:t>Готовый алгоритм деревьев для таблиц.
Им обычно и учат скоринг.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840480"/>
            <a:ext cx="5303520" cy="2286000"/>
          </a:xfrm>
          <a:prstGeom prst="roundRect">
            <a:avLst>
              <a:gd name="adj" fmla="val 8000"/>
            </a:avLst>
          </a:prstGeom>
          <a:solidFill>
            <a:srgbClr val="15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40233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D9FFF"/>
                </a:solidFill>
                <a:latin typeface="Segoe UI"/>
              </a:rPr>
              <a:t>PSI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526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4"/>
                </a:solidFill>
                <a:latin typeface="Segoe UI"/>
              </a:rPr>
              <a:t>Не „поплыли“ ли данные со временем.
Большой PSI = на тесте мир другой.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